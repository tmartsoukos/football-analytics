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1F560D-ACF0-1982-B5B1-D2134FC14AA2}" v="88" dt="2026-06-09T23:36:13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D8F22-5E1A-4323-9434-DD23C1BF48F3}" type="datetimeFigureOut">
              <a:t>6/9/2026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AAD82-70D2-42D9-8297-1D06B8B1F67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786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ΠΑΝΕΠΙΣΤΗΜΙΟ ΔΥΤΙΚΗΣ ΑΤΤΙΚΗΣ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Τμήμα Μηχανικών Πληροφορικής &amp; Υπολογιστών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Football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Υβριδικό Pipeline Ανίχνευσης Παικτών &amp; Μπάλας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YOLO, ByteTrack &amp; Hough Circle Transform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3474720"/>
            <a:ext cx="5303520" cy="27432"/>
          </a:xfrm>
          <a:prstGeom prst="rect">
            <a:avLst/>
          </a:prstGeom>
          <a:solidFill>
            <a:srgbClr val="0099B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3593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Φοιτητής: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72768" y="35935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Θεμιστοκλής Μαρτσούκος  (ΑΜ: 20390146)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3904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Μάθημα: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72768" y="39044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Όραση  |  2025-2026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4215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Επιβλέπων: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72768" y="42153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Α. Μ. Οικονόμου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1389888"/>
            <a:ext cx="2560320" cy="347472"/>
          </a:xfrm>
          <a:prstGeom prst="rect">
            <a:avLst/>
          </a:prstGeom>
          <a:solidFill>
            <a:srgbClr val="E63946">
              <a:alpha val="22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389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1883664"/>
            <a:ext cx="2560320" cy="347472"/>
          </a:xfrm>
          <a:prstGeom prst="rect">
            <a:avLst/>
          </a:prstGeom>
          <a:solidFill>
            <a:srgbClr val="4A90D9">
              <a:alpha val="22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8836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2377440"/>
            <a:ext cx="2560320" cy="347472"/>
          </a:xfrm>
          <a:prstGeom prst="rect">
            <a:avLst/>
          </a:prstGeom>
          <a:solidFill>
            <a:srgbClr val="39D98A">
              <a:alpha val="22000"/>
            </a:srgbClr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377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2871216"/>
            <a:ext cx="2560320" cy="347472"/>
          </a:xfrm>
          <a:prstGeom prst="rect">
            <a:avLst/>
          </a:prstGeom>
          <a:solidFill>
            <a:srgbClr val="F4C542">
              <a:alpha val="22000"/>
            </a:srgbClr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8712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HoughCircles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3364992"/>
            <a:ext cx="2560320" cy="347472"/>
          </a:xfrm>
          <a:prstGeom prst="rect">
            <a:avLst/>
          </a:prstGeom>
          <a:solidFill>
            <a:srgbClr val="00C2E0">
              <a:alpha val="22000"/>
            </a:srgbClr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364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80760" y="3977640"/>
            <a:ext cx="2834640" cy="777240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0760" y="40050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42428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FC vs PSG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1920×1080 · 30 FPS · 544 frames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73152" cy="5029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&amp; Ερευνητικά Ερωτήματα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ποδόσφαιρο: 30 frames/sec → αδύνατη η χειροκίνητη ανάλυση σε πραγματικό χρόνο.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321040" cy="1024128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0160"/>
            <a:ext cx="640080" cy="1024128"/>
          </a:xfrm>
          <a:prstGeom prst="rect">
            <a:avLst/>
          </a:prstGeom>
          <a:solidFill>
            <a:srgbClr val="E63946">
              <a:alpha val="2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70432" y="1389888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Παρακολούθηση Παικτών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7373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Μπορούμε να ανιχνεύσουμε παίκτες με σταθερά IDs που διατηρούνται σε κάθε frame, ακόμα και κατά την occlusion;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450592"/>
            <a:ext cx="8321040" cy="1024128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450592"/>
            <a:ext cx="640080" cy="1024128"/>
          </a:xfrm>
          <a:prstGeom prst="rect">
            <a:avLst/>
          </a:prstGeom>
          <a:solidFill>
            <a:srgbClr val="4A90D9">
              <a:alpha val="2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450592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70432" y="2560320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Κατάταξη Ομάδων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290779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Μπορούμε να κατατάξουμε αυτόματα κάθε παίκτη στην ομάδα του χωρίς καμία pre-labeled πληροφορία;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3621024"/>
            <a:ext cx="8321040" cy="1024128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621024"/>
            <a:ext cx="640080" cy="1024128"/>
          </a:xfrm>
          <a:prstGeom prst="rect">
            <a:avLst/>
          </a:prstGeom>
          <a:solidFill>
            <a:srgbClr val="39D98A">
              <a:alpha val="2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621024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70432" y="3730752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Ανίχνευση Μπάλας &amp; Κατοχή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407822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Μπορούμε να εντοπίσουμε αξιόπιστα τη μπάλα (&lt;0.05% frame pixels) ώστε να μετράμε ποσοστό κατοχής;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Paris FC vs PSG  ·  1920×1080  ·  30 FPS  ·  544 frames επεξεργάστηκαν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73152" cy="5029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Αρχιτεκτονική: Modular Pipeline 4 Στρωμάτων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029968" cy="2240280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029968" cy="91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0700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179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664208" cy="18288"/>
          </a:xfrm>
          <a:prstGeom prst="rect">
            <a:avLst/>
          </a:prstGeom>
          <a:solidFill>
            <a:srgbClr val="E63946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92024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Ανίχνευση class 0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class 32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14016" y="2103120"/>
            <a:ext cx="566928" cy="36576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1" name="Text 9"/>
          <p:cNvSpPr/>
          <p:nvPr/>
        </p:nvSpPr>
        <p:spPr>
          <a:xfrm>
            <a:off x="2761488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33472" y="1051560"/>
            <a:ext cx="2029968" cy="2240280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33472" y="1051560"/>
            <a:ext cx="2029968" cy="914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2633472" y="120700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33472" y="15179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16352" y="1828800"/>
            <a:ext cx="1664208" cy="18288"/>
          </a:xfrm>
          <a:prstGeom prst="rect">
            <a:avLst/>
          </a:prstGeom>
          <a:solidFill>
            <a:srgbClr val="4A90D9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633472" y="192024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Algo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81728" y="2103120"/>
            <a:ext cx="566928" cy="36576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01184" y="1051560"/>
            <a:ext cx="2029968" cy="2240280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01184" y="1051560"/>
            <a:ext cx="2029968" cy="91440"/>
          </a:xfrm>
          <a:prstGeom prst="rect">
            <a:avLst/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4901184" y="120700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01184" y="15179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k=2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84064" y="1828800"/>
            <a:ext cx="1664208" cy="18288"/>
          </a:xfrm>
          <a:prstGeom prst="rect">
            <a:avLst/>
          </a:prstGeom>
          <a:solidFill>
            <a:srgbClr val="39D98A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01184" y="192024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masking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[S,V] features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49440" y="2103120"/>
            <a:ext cx="566928" cy="36576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7" name="Text 25"/>
          <p:cNvSpPr/>
          <p:nvPr/>
        </p:nvSpPr>
        <p:spPr>
          <a:xfrm>
            <a:off x="7296912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68896" y="1051560"/>
            <a:ext cx="2029968" cy="2240280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68896" y="1051560"/>
            <a:ext cx="2029968" cy="9144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0" name="Text 28"/>
          <p:cNvSpPr/>
          <p:nvPr/>
        </p:nvSpPr>
        <p:spPr>
          <a:xfrm>
            <a:off x="7168896" y="120700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visualizer.py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68896" y="15179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51776" y="1828800"/>
            <a:ext cx="1664208" cy="18288"/>
          </a:xfrm>
          <a:prstGeom prst="rect">
            <a:avLst/>
          </a:prstGeom>
          <a:solidFill>
            <a:srgbClr val="F4C542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168896" y="192024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&amp; UI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3429000"/>
            <a:ext cx="8412480" cy="658368"/>
          </a:xfrm>
          <a:prstGeom prst="rect">
            <a:avLst/>
          </a:prstGeom>
          <a:solidFill>
            <a:srgbClr val="0D1E3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429000"/>
            <a:ext cx="73152" cy="658368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493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 main.py  —  Orchestrator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3749040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Ενοποιεί και τα 4 modules σε single frame loop  ·  Κατοχή μπάλας μέσω Euclidean distance  ·  Αποθήκευση heatmaps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" y="4709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Αρχή Single Responsibility: κάθε module έχει ακριβώς μία ευθύνη — ανταλλαξιμότητα χωρίς side-effects.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73152" cy="5029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 + ByteTrack: Stateful Multi-Object Tracking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520440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977640" cy="91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  —  Ανίχνευση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91056"/>
            <a:ext cx="292608" cy="292608"/>
          </a:xfrm>
          <a:prstGeom prst="ellipse">
            <a:avLst/>
          </a:prstGeom>
          <a:solidFill>
            <a:srgbClr val="00C2E0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91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2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pre-trained · 80 classes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292608" cy="292608"/>
          </a:xfrm>
          <a:prstGeom prst="ellipse">
            <a:avLst/>
          </a:prstGeom>
          <a:solidFill>
            <a:srgbClr val="00C2E0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2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103120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 (person)  →  conf ≥ 0.30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292608" cy="292608"/>
          </a:xfrm>
          <a:prstGeom prst="ellipse">
            <a:avLst/>
          </a:prstGeom>
          <a:solidFill>
            <a:srgbClr val="00C2E0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2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633472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32 (ball)    →  conf ≥ 0.10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3182112"/>
            <a:ext cx="292608" cy="292608"/>
          </a:xfrm>
          <a:prstGeom prst="ellipse">
            <a:avLst/>
          </a:prstGeom>
          <a:solidFill>
            <a:srgbClr val="00C2E0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2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163824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model.track(persist=True)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3712464"/>
            <a:ext cx="292608" cy="292608"/>
          </a:xfrm>
          <a:prstGeom prst="ellipse">
            <a:avLst/>
          </a:prstGeom>
          <a:solidFill>
            <a:srgbClr val="00C2E0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2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694176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bytetrack.yaml tracker config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617720" y="1005840"/>
            <a:ext cx="4114800" cy="3520440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005840"/>
            <a:ext cx="4114800" cy="914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1430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 —  Tracking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536192"/>
            <a:ext cx="3840480" cy="1261872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18470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Προβλέπει θέση &amp; ταχύτητα κάθε παίκτη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επόμενο frame χωρίς να το «δει».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3840480" cy="1261872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2916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Algorithm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1912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Βέλτιστη αντιστοίχιση ανιχνεύσεων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τροχιές — ελαχιστοποίηση κόστους.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4617720"/>
            <a:ext cx="8366760" cy="384048"/>
          </a:xfrm>
          <a:prstGeom prst="rect">
            <a:avLst/>
          </a:prstGeom>
          <a:solidFill>
            <a:srgbClr val="0D1E3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663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Αποτέλεσμα: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03120" y="46634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παίκτης αποκτά μοναδικό track_id που παραμένει σταθερό σε όλα τα frames — ακόμα και κατά την occlusion.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73152" cy="5029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Ανίχνευση Μπάλας: Υβριδικό Cascade Τριών Επιπέδων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530352"/>
          </a:xfrm>
          <a:prstGeom prst="rect">
            <a:avLst/>
          </a:prstGeom>
          <a:solidFill>
            <a:srgbClr val="2A0A1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73152" cy="5303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14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Πρόβλημα: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93392" y="914400"/>
            <a:ext cx="6656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 (COCO) αποτυγχάνει — μπάλα &lt; 0.05% frame pixels · motion blur · domain gap.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8138160" cy="475488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645920"/>
            <a:ext cx="1188720" cy="292608"/>
          </a:xfrm>
          <a:prstGeom prst="rect">
            <a:avLst/>
          </a:prstGeom>
          <a:solidFill>
            <a:srgbClr val="00C2E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164592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 —  ανίχνευση μόνο όταν conf ≥ 0.30. Παρέχει persistent track_id. (σπάνιο για μπάλα)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8138160" cy="475488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249424"/>
            <a:ext cx="1188720" cy="292608"/>
          </a:xfrm>
          <a:prstGeom prst="rect">
            <a:avLst/>
          </a:prstGeom>
          <a:solidFill>
            <a:srgbClr val="4A90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224942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detect_ball()  —  dedicated pass με conf ≥ 0.10. Αποκαθιστά αποθαρρυμένες low-confidence ανιχνεύσεις.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761488"/>
            <a:ext cx="8138160" cy="475488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2852928"/>
            <a:ext cx="1188720" cy="292608"/>
          </a:xfrm>
          <a:prstGeom prst="rect">
            <a:avLst/>
          </a:prstGeom>
          <a:solidFill>
            <a:srgbClr val="39D98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28529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BallHoughDetector  —  Καθαρή Κλασική CV (εργαστήριο-aligned): GaussianBlur(9×9) → Canny (εσωτερικό) → Vote Accumulator.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01568"/>
            <a:ext cx="8412480" cy="1078992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4747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Filter  —  Γιατί χρειάζεται;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776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Μετά το HoughCircles, κάθε υποψήφιος κύκλος ελέγχεται: μετράμε τη μέση φωτεινότητα των pixels μέσα στον κύκλο.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3931920" cy="320040"/>
          </a:xfrm>
          <a:prstGeom prst="rect">
            <a:avLst/>
          </a:prstGeom>
          <a:solidFill>
            <a:srgbClr val="0D1E3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1330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D98A"/>
                </a:solidFill>
                <a:latin typeface="Calibri"/>
                <a:ea typeface="Calibri"/>
                <a:cs typeface="Calibri"/>
              </a:rPr>
              <a:t>Λευκή μπ</a:t>
            </a:r>
            <a:r>
              <a:rPr lang="en-US" sz="1150" dirty="0" err="1">
                <a:solidFill>
                  <a:srgbClr val="39D98A"/>
                </a:solidFill>
                <a:latin typeface="Calibri"/>
                <a:ea typeface="Calibri"/>
                <a:cs typeface="Calibri"/>
              </a:rPr>
              <a:t>άλ</a:t>
            </a:r>
            <a:r>
              <a:rPr lang="en-US" sz="1150" dirty="0">
                <a:solidFill>
                  <a:srgbClr val="39D98A"/>
                </a:solidFill>
                <a:latin typeface="Calibri"/>
                <a:ea typeface="Calibri"/>
                <a:cs typeface="Calibri"/>
              </a:rPr>
              <a:t>α:  mean &gt; 150 ✅  ΑΠΟΔΟΧΗ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36592" y="4096512"/>
            <a:ext cx="3931920" cy="320040"/>
          </a:xfrm>
          <a:prstGeom prst="rect">
            <a:avLst/>
          </a:prstGeom>
          <a:solidFill>
            <a:srgbClr val="0D1E3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73752" y="41330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Κεφάλι</a:t>
            </a:r>
            <a:r>
              <a:rPr lang="en-US" sz="1150" dirty="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sz="1150" dirty="0" err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Λευκή</a:t>
            </a:r>
            <a:r>
              <a:rPr lang="en-US" sz="1150" dirty="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κάλτσ</a:t>
            </a:r>
            <a:r>
              <a:rPr lang="en-US" sz="1150" dirty="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α:  mean &lt; 150 ❌  ΑΠΟΡΡΙΨΗ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73152" cy="5029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Κατάταξη Ομάδων: K-Means σε Χρωματικό Χώρο HSV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41832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K-Means (unsupervised);  →  Δεν υπάρχουν pre-labeled δεδομένα ανά παίκτη — το σύστημα ανακαλύπτει τις ομάδες μόνο του.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70048" cy="1719072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481328"/>
            <a:ext cx="475488" cy="475488"/>
          </a:xfrm>
          <a:prstGeom prst="ellipse">
            <a:avLst/>
          </a:prstGeom>
          <a:solidFill>
            <a:srgbClr val="39D98A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048256"/>
            <a:ext cx="2395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 Mask (HSV)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cv2.inRange([35,40,40]→[75,255,255])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Αφαιρεί pixels γηπέδου πριν τον υπολογισμό.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70048" cy="1719072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1481328"/>
            <a:ext cx="475488" cy="475488"/>
          </a:xfrm>
          <a:prstGeom prst="ellipse">
            <a:avLst/>
          </a:prstGeom>
          <a:solidFill>
            <a:srgbClr val="00C2E0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048256"/>
            <a:ext cx="2395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[S, V]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37560" y="237744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 αφαιρείται — αχρωματικές φανέλες.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κύριος διαχωριστής φωτεινότητας.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70048" cy="1719072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481328"/>
            <a:ext cx="475488" cy="475488"/>
          </a:xfrm>
          <a:prstGeom prst="ellipse">
            <a:avLst/>
          </a:prstGeom>
          <a:solidFill>
            <a:srgbClr val="F4C542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2048256"/>
            <a:ext cx="2395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Filter + Fit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72200" y="237744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mean_S &gt; 160 → skip (νέον διαιτητής).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σε 186 clean samples από 700.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273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ΑΠΟΤΕΛΈΣΜΑΤΑ CLUSTERING (186 CLEAN SAMPLES)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4069080" cy="1389888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547872"/>
            <a:ext cx="406908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 —  Paris FC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" y="3986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60.2  ·  V = 179.3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0352" y="427939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Χαμηλό Saturation, υψηλό Value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Λευκή φανέλα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45152" y="3547872"/>
            <a:ext cx="4069080" cy="1389888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45152" y="3547872"/>
            <a:ext cx="406908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9" name="Text 27"/>
          <p:cNvSpPr/>
          <p:nvPr/>
        </p:nvSpPr>
        <p:spPr>
          <a:xfrm>
            <a:off x="4809744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 —  PSG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9744" y="3986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139.4  ·  V = 82.4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09744" y="427939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Υψηλότερο Saturation, χαμηλό Value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Σκούρα navy φανέλα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73152" cy="77724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Χωρική Ανάλυση: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Density Estimation &amp; Τακτικά Heatmaps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627632" cy="1755648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4241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ROI Mask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cv2.fillPoly → binary mask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lookup per frame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11680" y="166420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E0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987552"/>
            <a:ext cx="1627632" cy="1755648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04241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👣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03120" y="14447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Contact Point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783080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= (cx, y₂)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κάτω-κεντρικό bbox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49040" y="166420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E0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0" y="987552"/>
            <a:ext cx="1627632" cy="1755648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104241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14447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Accumulator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1783080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 array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ανά frame/παίκτη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0" y="166420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E0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77840" y="987552"/>
            <a:ext cx="1627632" cy="1755648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0" y="104241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77840" y="14447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GaussianBlur(151×151)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1783080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— sparse dots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smooth density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23760" y="166420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E0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0" y="987552"/>
            <a:ext cx="1627632" cy="1755648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0" y="104241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0" y="14447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COLORMAP_JET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1783080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Μπλε → Κόκκινο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 ομάδα ξεχωριστά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880360"/>
            <a:ext cx="4160520" cy="2029968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880360"/>
            <a:ext cx="416052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29992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  —  Paris FC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0352" y="3383280"/>
            <a:ext cx="475488" cy="475488"/>
          </a:xfrm>
          <a:prstGeom prst="rect">
            <a:avLst/>
          </a:prstGeom>
          <a:solidFill>
            <a:srgbClr val="001AFF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05840" y="3383280"/>
            <a:ext cx="475488" cy="475488"/>
          </a:xfrm>
          <a:prstGeom prst="rect">
            <a:avLst/>
          </a:prstGeom>
          <a:solidFill>
            <a:srgbClr val="0066FF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481328" y="3383280"/>
            <a:ext cx="475488" cy="475488"/>
          </a:xfrm>
          <a:prstGeom prst="rect">
            <a:avLst/>
          </a:prstGeom>
          <a:solidFill>
            <a:srgbClr val="00CCFF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956816" y="3383280"/>
            <a:ext cx="475488" cy="475488"/>
          </a:xfrm>
          <a:prstGeom prst="rect">
            <a:avLst/>
          </a:prstGeom>
          <a:solidFill>
            <a:srgbClr val="00FF99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32304" y="3383280"/>
            <a:ext cx="475488" cy="475488"/>
          </a:xfrm>
          <a:prstGeom prst="rect">
            <a:avLst/>
          </a:prstGeom>
          <a:solidFill>
            <a:srgbClr val="FFFF00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907792" y="3383280"/>
            <a:ext cx="475488" cy="475488"/>
          </a:xfrm>
          <a:prstGeom prst="rect">
            <a:avLst/>
          </a:prstGeom>
          <a:solidFill>
            <a:srgbClr val="FF6600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383280" y="3383280"/>
            <a:ext cx="475488" cy="475488"/>
          </a:xfrm>
          <a:prstGeom prst="rect">
            <a:avLst/>
          </a:prstGeom>
          <a:solidFill>
            <a:srgbClr val="FF0000">
              <a:alpha val="6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38953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ψυχρή ζώνη (χαμηλή κυκλοφορία)         θερμή ζώνη (υψηλή κυκλοφορία)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0352" y="4160520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Ζώνες επίθεσης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Χρησιμοποίηση πλευρικών διαδρόμων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36592" y="2880360"/>
            <a:ext cx="4160520" cy="2029968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36592" y="2880360"/>
            <a:ext cx="416052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2" name="Text 40"/>
          <p:cNvSpPr/>
          <p:nvPr/>
        </p:nvSpPr>
        <p:spPr>
          <a:xfrm>
            <a:off x="4901184" y="29992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—  PSG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901184" y="3383280"/>
            <a:ext cx="475488" cy="475488"/>
          </a:xfrm>
          <a:prstGeom prst="rect">
            <a:avLst/>
          </a:prstGeom>
          <a:solidFill>
            <a:srgbClr val="001AFF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376672" y="3383280"/>
            <a:ext cx="475488" cy="475488"/>
          </a:xfrm>
          <a:prstGeom prst="rect">
            <a:avLst/>
          </a:prstGeom>
          <a:solidFill>
            <a:srgbClr val="0066FF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852160" y="3383280"/>
            <a:ext cx="475488" cy="475488"/>
          </a:xfrm>
          <a:prstGeom prst="rect">
            <a:avLst/>
          </a:prstGeom>
          <a:solidFill>
            <a:srgbClr val="00CCFF">
              <a:alpha val="6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27648" y="3383280"/>
            <a:ext cx="475488" cy="475488"/>
          </a:xfrm>
          <a:prstGeom prst="rect">
            <a:avLst/>
          </a:prstGeom>
          <a:solidFill>
            <a:srgbClr val="00FF99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03136" y="3383280"/>
            <a:ext cx="475488" cy="475488"/>
          </a:xfrm>
          <a:prstGeom prst="rect">
            <a:avLst/>
          </a:prstGeom>
          <a:solidFill>
            <a:srgbClr val="FFFF00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278624" y="3383280"/>
            <a:ext cx="475488" cy="475488"/>
          </a:xfrm>
          <a:prstGeom prst="rect">
            <a:avLst/>
          </a:prstGeom>
          <a:solidFill>
            <a:srgbClr val="FF6600">
              <a:alpha val="6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754112" y="3383280"/>
            <a:ext cx="475488" cy="475488"/>
          </a:xfrm>
          <a:prstGeom prst="rect">
            <a:avLst/>
          </a:prstGeom>
          <a:solidFill>
            <a:srgbClr val="FF0000">
              <a:alpha val="6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901184" y="38953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ψυχρή ζώνη (χαμηλή κυκλοφορία)         θερμή ζώνη (υψηλή κυκλοφορία)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01184" y="4160520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Ζώνη αμυντικής δομής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Συμπίεση κεντρικού άξονα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73152" cy="5029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Εκτέλεση Pipeline σε Πραγματικό Βίντεο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38912"/>
          </a:xfrm>
          <a:prstGeom prst="rect">
            <a:avLst/>
          </a:prstGeom>
          <a:solidFill>
            <a:srgbClr val="1A120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73152" cy="438912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60120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C542"/>
                </a:solidFill>
                <a:latin typeface="Calibri"/>
                <a:ea typeface="Calibri"/>
                <a:cs typeface="Calibri"/>
              </a:rPr>
              <a:t>🎥  Pre-recorded Clipchamp screen capture · x16 τα</a:t>
            </a:r>
            <a:r>
              <a:rPr lang="en-US" sz="1150" dirty="0" err="1">
                <a:solidFill>
                  <a:srgbClr val="F4C542"/>
                </a:solidFill>
                <a:latin typeface="Calibri"/>
                <a:ea typeface="Calibri"/>
                <a:cs typeface="Calibri"/>
              </a:rPr>
              <a:t>χύτητ</a:t>
            </a:r>
            <a:r>
              <a:rPr lang="en-US" sz="1150" dirty="0">
                <a:solidFill>
                  <a:srgbClr val="F4C542"/>
                </a:solidFill>
                <a:latin typeface="Calibri"/>
                <a:ea typeface="Calibri"/>
                <a:cs typeface="Calibri"/>
              </a:rPr>
              <a:t>α </a:t>
            </a:r>
            <a:r>
              <a:rPr lang="en-US" sz="1150" dirty="0" err="1">
                <a:solidFill>
                  <a:srgbClr val="F4C542"/>
                </a:solidFill>
                <a:latin typeface="Calibri"/>
                <a:ea typeface="Calibri"/>
                <a:cs typeface="Calibri"/>
              </a:rPr>
              <a:t>λόγω</a:t>
            </a:r>
            <a:r>
              <a:rPr lang="en-US" sz="1150" dirty="0">
                <a:solidFill>
                  <a:srgbClr val="F4C542"/>
                </a:solidFill>
                <a:latin typeface="Calibri"/>
                <a:ea typeface="Calibri"/>
                <a:cs typeface="Calibri"/>
              </a:rPr>
              <a:t> CPU-only </a:t>
            </a:r>
            <a:r>
              <a:rPr lang="en-US" sz="1150" dirty="0" err="1">
                <a:solidFill>
                  <a:srgbClr val="F4C542"/>
                </a:solidFill>
                <a:latin typeface="Calibri"/>
                <a:ea typeface="Calibri"/>
                <a:cs typeface="Calibri"/>
              </a:rPr>
              <a:t>εκτέλεσης</a:t>
            </a:r>
            <a:r>
              <a:rPr lang="en-US" sz="1150" dirty="0">
                <a:solidFill>
                  <a:srgbClr val="F4C542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150" dirty="0" err="1">
                <a:solidFill>
                  <a:srgbClr val="F4C542"/>
                </a:solidFill>
                <a:latin typeface="Calibri"/>
                <a:ea typeface="Calibri"/>
                <a:cs typeface="Calibri"/>
              </a:rPr>
              <a:t>χωρίς</a:t>
            </a:r>
            <a:r>
              <a:rPr lang="en-US" sz="1150" dirty="0">
                <a:solidFill>
                  <a:srgbClr val="F4C542"/>
                </a:solidFill>
                <a:latin typeface="Calibri"/>
                <a:ea typeface="Calibri"/>
                <a:cs typeface="Calibri"/>
              </a:rPr>
              <a:t> GPU).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06076" y="1479848"/>
            <a:ext cx="2441783" cy="2789592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6076" y="1471444"/>
            <a:ext cx="2349335" cy="106769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206076" y="1581172"/>
            <a:ext cx="2349335" cy="54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🔴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3236" y="2001796"/>
            <a:ext cx="2032993" cy="410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Κόκκινα Boxes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3236" y="2340124"/>
            <a:ext cx="2032993" cy="1221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FC (Team 0)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Λευκή φανέλα · label: T0 #ID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95017" y="1471445"/>
            <a:ext cx="2517423" cy="2797996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95017" y="1479849"/>
            <a:ext cx="2517423" cy="106769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2895017" y="1589577"/>
            <a:ext cx="2517423" cy="54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23772" y="2010201"/>
            <a:ext cx="2167463" cy="410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Μπλε Boxes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23772" y="2348529"/>
            <a:ext cx="2167463" cy="1221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PSG (Team 1)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Σκούρα φανέλα · label: T1 #ID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2473" y="1479850"/>
            <a:ext cx="2576254" cy="2789590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02473" y="1496658"/>
            <a:ext cx="2576254" cy="98365"/>
          </a:xfrm>
          <a:prstGeom prst="rect">
            <a:avLst/>
          </a:prstGeom>
          <a:solidFill>
            <a:srgbClr val="39D98A"/>
          </a:solidFill>
          <a:ln/>
        </p:spPr>
      </p:sp>
      <p:sp>
        <p:nvSpPr>
          <p:cNvPr id="19" name="Text 17"/>
          <p:cNvSpPr/>
          <p:nvPr/>
        </p:nvSpPr>
        <p:spPr>
          <a:xfrm>
            <a:off x="5802473" y="1606386"/>
            <a:ext cx="2576254" cy="52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39633" y="2027010"/>
            <a:ext cx="2226295" cy="401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Green Trail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39633" y="2365338"/>
            <a:ext cx="2226295" cy="1196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Τροχιά μπάλας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deque(maxlen=15) sliding window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73152" cy="5029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Πειραματικά Αποτελέσματα &amp; Ανάλυση Περιορισμών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828800" cy="10515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332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0C2E0"/>
                </a:solidFill>
                <a:latin typeface="Calibri"/>
                <a:ea typeface="Calibri"/>
                <a:cs typeface="Calibri"/>
              </a:rPr>
              <a:t>594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6093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επεξεργάστηκαν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69385" y="987552"/>
            <a:ext cx="1828800" cy="10515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69385" y="10332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269385" y="16093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samples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fit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76307" y="1001491"/>
            <a:ext cx="1076930" cy="1037621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9040" y="1012364"/>
            <a:ext cx="140449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0C2E0"/>
                </a:solidFill>
                <a:latin typeface="Calibri"/>
                <a:ea typeface="Calibri"/>
                <a:cs typeface="Calibri"/>
              </a:rPr>
              <a:t>90.5%</a:t>
            </a:r>
            <a:endParaRPr lang="en-US" sz="32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48740" y="1630253"/>
            <a:ext cx="16832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/>
                <a:ea typeface="Calibri"/>
                <a:cs typeface="Calibri"/>
              </a:rPr>
              <a:t>Κα</a:t>
            </a:r>
            <a:r>
              <a:rPr lang="en-US" sz="1100" dirty="0" err="1">
                <a:solidFill>
                  <a:srgbClr val="7A9BB5"/>
                </a:solidFill>
                <a:latin typeface="Calibri"/>
                <a:ea typeface="Calibri"/>
                <a:cs typeface="Calibri"/>
              </a:rPr>
              <a:t>τοχή</a:t>
            </a:r>
            <a:endParaRPr lang="en-US" sz="1100" dirty="0" err="1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100">
                <a:solidFill>
                  <a:srgbClr val="7A9BB5"/>
                </a:solidFill>
                <a:latin typeface="Calibri"/>
                <a:ea typeface="Calibri"/>
                <a:cs typeface="Calibri"/>
              </a:rPr>
              <a:t>PSG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93408" y="987552"/>
            <a:ext cx="2084832" cy="10515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93408" y="103327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0C2E0"/>
                </a:solidFill>
                <a:latin typeface="Calibri"/>
                <a:ea typeface="Calibri"/>
                <a:cs typeface="Calibri"/>
              </a:rPr>
              <a:t>3.5%</a:t>
            </a:r>
            <a:endParaRPr lang="en-US" sz="3400"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93408" y="160934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Detection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3333" y="2194560"/>
            <a:ext cx="8412480" cy="713232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2494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ΚΑΤΟΧΗ ΜΠΑΛΑΣ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505456"/>
            <a:ext cx="4937760" cy="2743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505456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Paris FC 9.5%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431576" y="2467172"/>
            <a:ext cx="7339695" cy="31260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659560" y="2468032"/>
            <a:ext cx="8027240" cy="31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PSG 90.5%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3072384"/>
            <a:ext cx="8412480" cy="1874520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1455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Ανάλυση Trade-off: Precision vs Recall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547872"/>
            <a:ext cx="292608" cy="292608"/>
          </a:xfrm>
          <a:prstGeom prst="ellipse">
            <a:avLst/>
          </a:prstGeom>
          <a:solidFill>
            <a:srgbClr val="39D98A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D98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529584"/>
            <a:ext cx="766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filter (&gt;155) → Precision ≈ 100%  —  αυτό που ανιχνεύεται είναι πραγματικά η μπάλα.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292608" cy="292608"/>
          </a:xfrm>
          <a:prstGeom prst="ellipse">
            <a:avLst/>
          </a:prstGeom>
          <a:solidFill>
            <a:srgbClr val="F4C542">
              <a:alpha val="2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C542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959352"/>
            <a:ext cx="766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Recall = 3.5%  —  </a:t>
            </a:r>
            <a:r>
              <a:rPr lang="en-US" sz="1350" dirty="0" err="1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χάνουμε</a:t>
            </a:r>
            <a:r>
              <a:rPr lang="en-US" sz="1350" dirty="0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 frames όπ</a:t>
            </a:r>
            <a:r>
              <a:rPr lang="en-US" sz="1350" dirty="0" err="1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ου</a:t>
            </a:r>
            <a:r>
              <a:rPr lang="en-US" sz="1350" dirty="0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 μπ</a:t>
            </a:r>
            <a:r>
              <a:rPr lang="en-US" sz="1350" dirty="0" err="1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άλ</a:t>
            </a:r>
            <a:r>
              <a:rPr lang="en-US" sz="1350" dirty="0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α ≡ </a:t>
            </a:r>
            <a:r>
              <a:rPr lang="en-US" sz="1350" dirty="0" err="1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λευκή</a:t>
            </a:r>
            <a:r>
              <a:rPr lang="en-US" sz="1350" dirty="0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dirty="0" err="1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γρ</a:t>
            </a:r>
            <a:r>
              <a:rPr lang="en-US" sz="1350" dirty="0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α</a:t>
            </a:r>
            <a:r>
              <a:rPr lang="en-US" sz="1350" dirty="0" err="1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μμή</a:t>
            </a:r>
            <a:r>
              <a:rPr lang="en-US" sz="1350" dirty="0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dirty="0" err="1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γη</a:t>
            </a:r>
            <a:r>
              <a:rPr lang="en-US" sz="1350" dirty="0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π</a:t>
            </a:r>
            <a:r>
              <a:rPr lang="en-US" sz="1350" dirty="0" err="1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έδου</a:t>
            </a:r>
            <a:r>
              <a:rPr lang="en-US" sz="1350" dirty="0">
                <a:solidFill>
                  <a:srgbClr val="D8E8F5"/>
                </a:solidFill>
                <a:latin typeface="Calibri"/>
                <a:ea typeface="Calibri"/>
                <a:cs typeface="Calibri"/>
              </a:rPr>
              <a:t> ή occlusion.</a:t>
            </a:r>
            <a:endParaRPr lang="en-US" sz="1350" dirty="0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407408"/>
            <a:ext cx="292608" cy="292608"/>
          </a:xfrm>
          <a:prstGeom prst="ellipse">
            <a:avLst/>
          </a:prstGeom>
          <a:solidFill>
            <a:srgbClr val="00C2E0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2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🔬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4389120"/>
            <a:ext cx="766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Συνειδητή επιλογή: προτιμάμε ακριβή αλλά αραιή κατοχή έναντι θορυβώδους υψηλής κάλυψης.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65760" y="48280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700 samples συλλέχθηκαν · 514 outliers απορρίφθηκαν (μικρά crops, γρασίδι, νέον διαιτητής) · 186 clean samples για fitting.</a:t>
            </a:r>
            <a:endParaRPr lang="en-US" sz="10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8281B85E-67BA-5430-BDAC-F32419F11E8C}"/>
              </a:ext>
            </a:extLst>
          </p:cNvPr>
          <p:cNvSpPr/>
          <p:nvPr/>
        </p:nvSpPr>
        <p:spPr>
          <a:xfrm>
            <a:off x="4214825" y="987551"/>
            <a:ext cx="1076930" cy="1051561"/>
          </a:xfrm>
          <a:prstGeom prst="rect">
            <a:avLst/>
          </a:prstGeom>
          <a:solidFill>
            <a:srgbClr val="C0000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A6568205-19F7-2CF6-16EE-228BB358DA85}"/>
              </a:ext>
            </a:extLst>
          </p:cNvPr>
          <p:cNvSpPr/>
          <p:nvPr/>
        </p:nvSpPr>
        <p:spPr>
          <a:xfrm>
            <a:off x="4061496" y="1005394"/>
            <a:ext cx="1474192" cy="608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9.5%</a:t>
            </a:r>
            <a:endParaRPr lang="en-US" sz="3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4A6A4921-7344-6DF1-9A55-A453887EB5A1}"/>
              </a:ext>
            </a:extLst>
          </p:cNvPr>
          <p:cNvSpPr/>
          <p:nvPr/>
        </p:nvSpPr>
        <p:spPr>
          <a:xfrm>
            <a:off x="3963922" y="1602374"/>
            <a:ext cx="1557826" cy="354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Κα</a:t>
            </a:r>
            <a:r>
              <a:rPr lang="en-US" sz="11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τοχή</a:t>
            </a:r>
            <a:endParaRPr lang="en-US" sz="11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100">
                <a:solidFill>
                  <a:schemeClr val="bg1"/>
                </a:solidFill>
                <a:ea typeface="Calibri"/>
                <a:cs typeface="Calibri"/>
              </a:rPr>
              <a:t>Paris</a:t>
            </a:r>
            <a:endParaRPr lang="en-US" sz="1100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4884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Συμπεράσματα &amp; Μελλοντικές Επεκτάσεις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292608" cy="292608"/>
          </a:xfrm>
          <a:prstGeom prst="ellipse">
            <a:avLst/>
          </a:prstGeom>
          <a:solidFill>
            <a:srgbClr val="39D98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50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D98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932688"/>
            <a:ext cx="7936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Γενικά εργαλεία CV (YOLOv8 + ByteTrack + K-Means) αποδίδουν αξιόπιστα τακτικές μετρικές χωρίς domain-specific εκπαίδευση.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292608" cy="292608"/>
          </a:xfrm>
          <a:prstGeom prst="ellipse">
            <a:avLst/>
          </a:prstGeom>
          <a:solidFill>
            <a:srgbClr val="39D98A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D98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426464"/>
            <a:ext cx="7936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HoughCircles ως classical CV fallback: αυξάνει ball recall χωρίς επιπλέον model — lab-aligned, υψηλή precision.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5760" y="20665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ΜΕΛΛΟΝΤΙΚΈΣ ΕΠΕΚΤΆΣΕΙΣ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2697480" cy="2359152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31720"/>
            <a:ext cx="269748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5568" y="2496312"/>
            <a:ext cx="475488" cy="475488"/>
          </a:xfrm>
          <a:prstGeom prst="ellipse">
            <a:avLst/>
          </a:prstGeom>
          <a:solidFill>
            <a:srgbClr val="00C2E0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0815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SoccerNet Fine-tuning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410712"/>
            <a:ext cx="2423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Αντικατάσταση yolov8m.pt με μοντέλο fine-tuned σε football-specific dataset. Αναμενόμενο ball recall: 80-90%+ → στατιστικά κατοχής αξιόπιστα.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18688" y="2331720"/>
            <a:ext cx="2697480" cy="2359152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2331720"/>
            <a:ext cx="2697480" cy="73152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9" name="Shape 17"/>
          <p:cNvSpPr/>
          <p:nvPr/>
        </p:nvSpPr>
        <p:spPr>
          <a:xfrm>
            <a:off x="3968496" y="2496312"/>
            <a:ext cx="475488" cy="475488"/>
          </a:xfrm>
          <a:prstGeom prst="ellipse">
            <a:avLst/>
          </a:prstGeom>
          <a:solidFill>
            <a:srgbClr val="F4C542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968496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55848" y="30815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Estimation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55848" y="3410712"/>
            <a:ext cx="2423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matrix μετασχηματισμού: pixel συντεταγμένες → FIFA pitch μέτρα. Real-world speed (m/s) &amp; distance metrics ανά παίκτη.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71616" y="2331720"/>
            <a:ext cx="2697480" cy="2359152"/>
          </a:xfrm>
          <a:prstGeom prst="rect">
            <a:avLst/>
          </a:prstGeom>
          <a:solidFill>
            <a:srgbClr val="12233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71616" y="2331720"/>
            <a:ext cx="269748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5" name="Shape 23"/>
          <p:cNvSpPr/>
          <p:nvPr/>
        </p:nvSpPr>
        <p:spPr>
          <a:xfrm>
            <a:off x="6821424" y="2496312"/>
            <a:ext cx="475488" cy="475488"/>
          </a:xfrm>
          <a:prstGeom prst="ellipse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21424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08776" y="30815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+ SVM Hybrid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08776" y="3410712"/>
            <a:ext cx="2423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pseudo-labels → εκπαίδευση SVM classifier. Αξιοποίηση αμφότερων εργαστηρίων classification για καλύτερη γενίκευση.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Ευχαριστώ για την προσοχή σας  —  Θεμιστοκλής Μαρτσούκος  |  ΑΜ: 20390146  |  Ερωτήσεις;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Football Analytics</dc:title>
  <dc:subject>PptxGenJS Presentation</dc:subject>
  <dc:creator>Θεμιστοκλής Μαρτσούκος</dc:creator>
  <cp:lastModifiedBy>Θεμιστοκλής Μαρτσούκος</cp:lastModifiedBy>
  <cp:revision>79</cp:revision>
  <dcterms:created xsi:type="dcterms:W3CDTF">2026-06-07T14:53:02Z</dcterms:created>
  <dcterms:modified xsi:type="dcterms:W3CDTF">2026-06-09T23:36:20Z</dcterms:modified>
</cp:coreProperties>
</file>